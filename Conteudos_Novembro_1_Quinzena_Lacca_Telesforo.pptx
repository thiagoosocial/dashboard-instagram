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" y="4334256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u="none" i="0">
                <a:solidFill>
                  <a:srgbClr val="FFFF00"/>
                </a:solidFill>
                <a:latin typeface="Arial"/>
              </a:rPr>
              <a:t>CONTEÚDOS - NOVEMBRO - 1ª QUINZENA</a:t>
            </a:r>
          </a:p>
          <a:p>
            <a:pPr algn="l"/>
            <a:r>
              <a:rPr sz="1800" b="0" u="none" i="0">
                <a:solidFill>
                  <a:srgbClr val="FFFF00"/>
                </a:solidFill>
                <a:latin typeface="Arial"/>
              </a:rPr>
              <a:t>LACCA - TELÉSFORO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064" y="14630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1" u="none" i="0">
                <a:solidFill>
                  <a:srgbClr val="FFFF00"/>
                </a:solidFill>
                <a:latin typeface="Montserrat SemiBold"/>
              </a:rPr>
              <a:t>NOVEMBRO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2860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u="none" i="0">
                <a:solidFill>
                  <a:srgbClr val="FFFFFF"/>
                </a:solidFill>
                <a:latin typeface="Montserrat SemiBold"/>
              </a:rPr>
              <a:t>1ª Quinzena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4114800"/>
            <a:ext cx="2286000" cy="438912"/>
          </a:xfrm>
          <a:prstGeom prst="rect">
            <a:avLst/>
          </a:prstGeom>
          <a:solidFill>
            <a:srgbClr val="4285F4"/>
          </a:solidFill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u="none" i="0">
                <a:solidFill>
                  <a:srgbClr val="FFFFFF"/>
                </a:solidFill>
                <a:latin typeface="Arial"/>
              </a:rPr>
              <a:t>Link com as peças estáticas q1:</a:t>
            </a:r>
          </a:p>
          <a:p>
            <a:pPr algn="l"/>
            <a:r>
              <a:rPr sz="1100" b="1" u="sng" i="0">
                <a:solidFill>
                  <a:srgbClr val="FFFFFF"/>
                </a:solidFill>
                <a:latin typeface="Arial"/>
              </a:rPr>
              <a:t>clique aqui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9896" y="4114800"/>
            <a:ext cx="1828800" cy="438912"/>
          </a:xfrm>
          <a:prstGeom prst="rect">
            <a:avLst/>
          </a:prstGeom>
          <a:solidFill>
            <a:srgbClr val="4285F4"/>
          </a:solidFill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u="none" i="0">
                <a:solidFill>
                  <a:srgbClr val="FFFFFF"/>
                </a:solidFill>
                <a:latin typeface="Arial"/>
              </a:rPr>
              <a:t>Link com a peça reels</a:t>
            </a:r>
          </a:p>
          <a:p>
            <a:pPr algn="l"/>
            <a:r>
              <a:rPr sz="1100" b="1" u="sng" i="0">
                <a:solidFill>
                  <a:srgbClr val="FFFFFF"/>
                </a:solidFill>
                <a:latin typeface="Arial"/>
              </a:rPr>
              <a:t>clique aqui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76656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0976" y="21945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u="none" i="0">
                <a:solidFill>
                  <a:srgbClr val="595959"/>
                </a:solidFill>
                <a:latin typeface="Arial"/>
              </a:rPr>
              <a:t>Reels - Feed e stories / Data da postagem: 04/11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64592"/>
            <a:ext cx="2103120" cy="402336"/>
          </a:xfrm>
          <a:prstGeom prst="rect">
            <a:avLst/>
          </a:prstGeom>
          <a:solidFill>
            <a:srgbClr val="4285F4"/>
          </a:solidFill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1" u="none" i="0">
                <a:solidFill>
                  <a:srgbClr val="FFFFFF"/>
                </a:solidFill>
                <a:latin typeface="Arial"/>
              </a:rPr>
              <a:t>Link com a peça reels</a:t>
            </a:r>
          </a:p>
          <a:p>
            <a:pPr algn="r"/>
            <a:r>
              <a:rPr sz="1100" b="1" u="sng" i="0">
                <a:solidFill>
                  <a:srgbClr val="FFFFFF"/>
                </a:solidFill>
                <a:latin typeface="Arial"/>
              </a:rPr>
              <a:t>clique aqui</a:t>
            </a:r>
          </a:p>
        </p:txBody>
      </p:sp>
      <p:pic>
        <p:nvPicPr>
          <p:cNvPr id="5" name="Picture 4" descr="lz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4745736"/>
            <a:ext cx="347472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4128" y="530352"/>
            <a:ext cx="2487168" cy="4443984"/>
          </a:xfrm>
          <a:prstGeom prst="rect">
            <a:avLst/>
          </a:prstGeom>
          <a:solidFill>
            <a:srgbClr val="F3F3F3"/>
          </a:solidFill>
          <a:ln w="12700">
            <a:solidFill>
              <a:srgbClr val="AAAAAA"/>
            </a:solidFill>
            <a:prstDash val="dash"/>
          </a:ln>
        </p:spPr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8C8C8C"/>
                </a:solidFill>
                <a:latin typeface="Arial"/>
              </a:rPr>
              <a:t>ESPAÇO PARA O VÍDEO</a:t>
            </a:r>
          </a:p>
        </p:txBody>
      </p:sp>
      <p:pic>
        <p:nvPicPr>
          <p:cNvPr id="7" name="Picture 6" descr="img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1325880"/>
            <a:ext cx="2039112" cy="3625596"/>
          </a:xfrm>
          <a:prstGeom prst="rect">
            <a:avLst/>
          </a:prstGeom>
        </p:spPr>
      </p:pic>
      <p:sp>
        <p:nvSpPr>
          <p:cNvPr id="8" name="Left Arrow 7"/>
          <p:cNvSpPr/>
          <p:nvPr/>
        </p:nvSpPr>
        <p:spPr>
          <a:xfrm>
            <a:off x="5989320" y="4443984"/>
            <a:ext cx="274320" cy="182880"/>
          </a:xfrm>
          <a:prstGeom prst="leftArrow">
            <a:avLst/>
          </a:prstGeom>
          <a:solidFill>
            <a:srgbClr val="FFFFFF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468172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u="none" i="0">
                <a:solidFill>
                  <a:srgbClr val="595959"/>
                </a:solidFill>
                <a:latin typeface="Arial"/>
              </a:rPr>
              <a:t>Capa reels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71616" y="914400"/>
            <a:ext cx="2743200" cy="3611880"/>
          </a:xfrm>
          <a:prstGeom prst="rect">
            <a:avLst/>
          </a:prstGeom>
          <a:noFill/>
          <a:ln w="12700">
            <a:solidFill>
              <a:srgbClr val="5B8D9E"/>
            </a:solidFill>
          </a:ln>
        </p:spPr>
        <p:txBody>
          <a:bodyPr wrap="square" anchor="t" tIns="91440" bIns="54864">
            <a:noAutofit/>
          </a:bodyPr>
          <a:lstStyle/>
          <a:p>
            <a:pPr algn="l"/>
            <a:r>
              <a:rPr sz="750" b="1">
                <a:solidFill>
                  <a:srgbClr val="769899"/>
                </a:solidFill>
                <a:latin typeface="Roboto"/>
              </a:rPr>
              <a:t>Legenda:</a:t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/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>Um novo conceito em inteligência imobiliária acaba de chegar a Conselheiro Lafaiete.</a:t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/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>O My Place Telésforo une uma localização rara, um produto validado e uma condição de pagamento que você não vai encontrar em outro lugar.</a:t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/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>A partir de R$ 170.900,00</a:t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/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>Apenas 10% de entrada + 48x de R$ 3.204,38 SEM JUROS*.</a:t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/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>É matemática simples: alta demanda de locação (studios modernos com mais de 900m² de lazer) = liquidez real para o seu bolso.</a:t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/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>Não espere as unidades acabarem para entender que essa era a oportunidade do ano.</a:t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/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>Clique no link da bio ou chame no Direct agora mesmo. Fale com um consultor Lacca.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76656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0976" y="21945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u="none" i="0">
                <a:solidFill>
                  <a:srgbClr val="595959"/>
                </a:solidFill>
                <a:latin typeface="Arial"/>
              </a:rPr>
              <a:t>Estático - Feed e stories / Data da postagem: 10/11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64592"/>
            <a:ext cx="2103120" cy="402336"/>
          </a:xfrm>
          <a:prstGeom prst="rect">
            <a:avLst/>
          </a:prstGeom>
          <a:solidFill>
            <a:srgbClr val="4285F4"/>
          </a:solidFill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1" u="none" i="0">
                <a:solidFill>
                  <a:srgbClr val="FFFFFF"/>
                </a:solidFill>
                <a:latin typeface="Arial"/>
              </a:rPr>
              <a:t>Link com as peças estáticas:</a:t>
            </a:r>
          </a:p>
          <a:p>
            <a:pPr algn="r"/>
            <a:r>
              <a:rPr sz="1100" b="1" u="sng" i="0">
                <a:solidFill>
                  <a:srgbClr val="FFFFFF"/>
                </a:solidFill>
                <a:latin typeface="Arial"/>
              </a:rPr>
              <a:t>clique aqui</a:t>
            </a:r>
          </a:p>
        </p:txBody>
      </p:sp>
      <p:pic>
        <p:nvPicPr>
          <p:cNvPr id="5" name="Picture 4" descr="lz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4745736"/>
            <a:ext cx="347472" cy="237744"/>
          </a:xfrm>
          <a:prstGeom prst="rect">
            <a:avLst/>
          </a:prstGeom>
        </p:spPr>
      </p:pic>
      <p:pic>
        <p:nvPicPr>
          <p:cNvPr id="6" name="Picture 5" descr="img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67512"/>
            <a:ext cx="3035808" cy="4050792"/>
          </a:xfrm>
          <a:prstGeom prst="rect">
            <a:avLst/>
          </a:prstGeom>
        </p:spPr>
      </p:pic>
      <p:pic>
        <p:nvPicPr>
          <p:cNvPr id="7" name="Picture 6" descr="img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914400"/>
            <a:ext cx="2139696" cy="38039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9592" y="1097280"/>
            <a:ext cx="2944368" cy="3383280"/>
          </a:xfrm>
          <a:prstGeom prst="rect">
            <a:avLst/>
          </a:prstGeom>
          <a:noFill/>
          <a:ln w="12700">
            <a:solidFill>
              <a:srgbClr val="5B8D9E"/>
            </a:solidFill>
          </a:ln>
        </p:spPr>
        <p:txBody>
          <a:bodyPr wrap="square" anchor="t" tIns="91440" bIns="54864">
            <a:noAutofit/>
          </a:bodyPr>
          <a:lstStyle/>
          <a:p>
            <a:pPr algn="l"/>
            <a:r>
              <a:rPr sz="800" b="1">
                <a:solidFill>
                  <a:srgbClr val="769899"/>
                </a:solidFill>
                <a:latin typeface="Roboto"/>
              </a:rPr>
              <a:t>Legenda:</a:t>
            </a:r>
          </a:p>
          <a:p>
            <a:pPr algn="l"/>
            <a:r>
              <a:rPr sz="800" b="0">
                <a:solidFill>
                  <a:srgbClr val="769899"/>
                </a:solidFill>
                <a:latin typeface="Roboto"/>
              </a:rPr>
              <a:t/>
            </a:r>
          </a:p>
          <a:p>
            <a:pPr algn="l"/>
            <a:r>
              <a:rPr sz="800" b="0">
                <a:solidFill>
                  <a:srgbClr val="769899"/>
                </a:solidFill>
                <a:latin typeface="Roboto"/>
              </a:rPr>
              <a:t>Para morar bem ou investir com segurança, o momento é AGORA.</a:t>
            </a:r>
          </a:p>
          <a:p>
            <a:pPr algn="l"/>
            <a:r>
              <a:rPr sz="800" b="0">
                <a:solidFill>
                  <a:srgbClr val="769899"/>
                </a:solidFill>
                <a:latin typeface="Roboto"/>
              </a:rPr>
              <a:t/>
            </a:r>
          </a:p>
          <a:p>
            <a:pPr algn="l"/>
            <a:r>
              <a:rPr sz="800" b="0">
                <a:solidFill>
                  <a:srgbClr val="769899"/>
                </a:solidFill>
                <a:latin typeface="Roboto"/>
              </a:rPr>
              <a:t>O My Place Telésforo foi projetado para investidores de visão que buscam retorno rápido e liquidez real. Com um ticket de entrada acessível e parcelamento direto (e sem juros), você posiciona seu capital em um imóvel com alto potencial de valorização (média de 12%) e rentabilidade incrível na entrega das chaves.</a:t>
            </a:r>
          </a:p>
          <a:p>
            <a:pPr algn="l"/>
            <a:r>
              <a:rPr sz="800" b="0">
                <a:solidFill>
                  <a:srgbClr val="769899"/>
                </a:solidFill>
                <a:latin typeface="Roboto"/>
              </a:rPr>
              <a:t/>
            </a:r>
          </a:p>
          <a:p>
            <a:pPr algn="l"/>
            <a:r>
              <a:rPr sz="800" b="0">
                <a:solidFill>
                  <a:srgbClr val="769899"/>
                </a:solidFill>
                <a:latin typeface="Roboto"/>
              </a:rPr>
              <a:t>O endereço mais desejado de Lafaiete.</a:t>
            </a:r>
          </a:p>
          <a:p>
            <a:pPr algn="l"/>
            <a:r>
              <a:rPr sz="800" b="0">
                <a:solidFill>
                  <a:srgbClr val="769899"/>
                </a:solidFill>
                <a:latin typeface="Roboto"/>
              </a:rPr>
              <a:t/>
            </a:r>
          </a:p>
          <a:p>
            <a:pPr algn="l"/>
            <a:r>
              <a:rPr sz="800" b="0">
                <a:solidFill>
                  <a:srgbClr val="769899"/>
                </a:solidFill>
                <a:latin typeface="Roboto"/>
              </a:rPr>
              <a:t>Produto validado e alinhado ao novo perfil urbano.</a:t>
            </a:r>
          </a:p>
          <a:p>
            <a:pPr algn="l"/>
            <a:r>
              <a:rPr sz="800" b="0">
                <a:solidFill>
                  <a:srgbClr val="769899"/>
                </a:solidFill>
                <a:latin typeface="Roboto"/>
              </a:rPr>
              <a:t/>
            </a:r>
          </a:p>
          <a:p>
            <a:pPr algn="l"/>
            <a:r>
              <a:rPr sz="800" b="0">
                <a:solidFill>
                  <a:srgbClr val="769899"/>
                </a:solidFill>
                <a:latin typeface="Roboto"/>
              </a:rPr>
              <a:t>Não deixe essa condição passar. Fale com um consultor Lacca agora pelo link da bio e garanta a sua unidade na planta.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76656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0976" y="21945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u="none" i="0">
                <a:solidFill>
                  <a:srgbClr val="595959"/>
                </a:solidFill>
                <a:latin typeface="Arial"/>
              </a:rPr>
              <a:t>Carrossel - Feed / Data da postagem: 13/11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64592"/>
            <a:ext cx="2103120" cy="402336"/>
          </a:xfrm>
          <a:prstGeom prst="rect">
            <a:avLst/>
          </a:prstGeom>
          <a:solidFill>
            <a:srgbClr val="4285F4"/>
          </a:solidFill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1" u="none" i="0">
                <a:solidFill>
                  <a:srgbClr val="FFFFFF"/>
                </a:solidFill>
                <a:latin typeface="Arial"/>
              </a:rPr>
              <a:t>Link com as peças estáticas:</a:t>
            </a:r>
          </a:p>
          <a:p>
            <a:pPr algn="r"/>
            <a:r>
              <a:rPr sz="1100" b="1" u="sng" i="0">
                <a:solidFill>
                  <a:srgbClr val="FFFFFF"/>
                </a:solidFill>
                <a:latin typeface="Arial"/>
              </a:rPr>
              <a:t>clique aqui</a:t>
            </a:r>
          </a:p>
        </p:txBody>
      </p:sp>
      <p:pic>
        <p:nvPicPr>
          <p:cNvPr id="5" name="Picture 4" descr="lz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4745736"/>
            <a:ext cx="347472" cy="237744"/>
          </a:xfrm>
          <a:prstGeom prst="rect">
            <a:avLst/>
          </a:prstGeom>
        </p:spPr>
      </p:pic>
      <p:pic>
        <p:nvPicPr>
          <p:cNvPr id="6" name="Picture 5" descr="img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566928"/>
            <a:ext cx="1920240" cy="2560320"/>
          </a:xfrm>
          <a:prstGeom prst="rect">
            <a:avLst/>
          </a:prstGeom>
        </p:spPr>
      </p:pic>
      <p:pic>
        <p:nvPicPr>
          <p:cNvPr id="7" name="Picture 6" descr="img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566928"/>
            <a:ext cx="192024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4128" y="3291840"/>
            <a:ext cx="7086600" cy="1508760"/>
          </a:xfrm>
          <a:prstGeom prst="rect">
            <a:avLst/>
          </a:prstGeom>
          <a:noFill/>
          <a:ln w="12700">
            <a:solidFill>
              <a:srgbClr val="5B8D9E"/>
            </a:solidFill>
          </a:ln>
        </p:spPr>
        <p:txBody>
          <a:bodyPr wrap="square" anchor="t" tIns="91440" bIns="54864">
            <a:noAutofit/>
          </a:bodyPr>
          <a:lstStyle/>
          <a:p>
            <a:pPr algn="l"/>
            <a:r>
              <a:rPr sz="750" b="1">
                <a:solidFill>
                  <a:srgbClr val="769899"/>
                </a:solidFill>
                <a:latin typeface="Roboto"/>
              </a:rPr>
              <a:t>Legenda:</a:t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/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>Você não precisa de espaços gigantescos para viver com máximo conforto. Você precisa de um projeto inteligente!</a:t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/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>Os studios e apartamentos de 1 quarto do My Place Telésforo unem metragem sob medida, varanda aconchegante e uma infraestrutura completa que parece a de um hotel de alto padrão.</a:t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/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>Av. Prefeito Telésforo Cândido Resende, 125.</a:t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/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>Conquiste o seu próprio espaço com condições facilitadas no lançamento: a partir de R$ 170.900,00.</a:t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/>
            </a:r>
          </a:p>
          <a:p>
            <a:pPr algn="l"/>
            <a:r>
              <a:rPr sz="750" b="0">
                <a:solidFill>
                  <a:srgbClr val="769899"/>
                </a:solidFill>
                <a:latin typeface="Roboto"/>
              </a:rPr>
              <a:t>Clique na bio e fale com a gente!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